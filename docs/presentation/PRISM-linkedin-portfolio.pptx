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SM_MASTER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65392" y="8732520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3706B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65392" y="8732520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3706B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fthrizky/P.R.I.S.M." TargetMode="Externa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1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3624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7672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15768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99816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67912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0056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04104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88152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6248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0296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38912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822960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207008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591056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975104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359152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43200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127248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511296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895344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279392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663440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047488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431536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815584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199632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583680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967728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7351776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7735824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8119872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8503920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8887968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173736"/>
            <a:ext cx="292608" cy="265176"/>
          </a:xfrm>
          <a:prstGeom prst="rect">
            <a:avLst/>
          </a:prstGeom>
          <a:solidFill>
            <a:srgbClr val="0D151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FF3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04672" y="1828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B9C7C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PRISM / PORTFOLIO SYSTEM BRIEF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6537960" y="1828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B9C7C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01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502920" y="868680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spc="10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P.R.I.S.M.</a:t>
            </a:r>
            <a:endParaRPr lang="en-US" sz="3800" dirty="0"/>
          </a:p>
        </p:txBody>
      </p:sp>
      <p:sp>
        <p:nvSpPr>
          <p:cNvPr id="47" name="Text 45"/>
          <p:cNvSpPr/>
          <p:nvPr/>
        </p:nvSpPr>
        <p:spPr>
          <a:xfrm>
            <a:off x="530352" y="1755648"/>
            <a:ext cx="5989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DE6E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Predictive Retrieval for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DDE6E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Industrial Safety &amp; Maintenance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530352" y="2907792"/>
            <a:ext cx="5989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9C7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offline-first system that turns machine signals into traceable, validated safety guidance.</a:t>
            </a:r>
            <a:endParaRPr lang="en-US" sz="1100" dirty="0"/>
          </a:p>
        </p:txBody>
      </p:sp>
      <p:pic>
        <p:nvPicPr>
          <p:cNvPr id="49" name="Image 0" descr="E:\Learning\Project\PRISM\docs\assets\prism-dashboard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703320"/>
            <a:ext cx="6254496" cy="3909060"/>
          </a:xfrm>
          <a:prstGeom prst="rect">
            <a:avLst/>
          </a:prstGeom>
        </p:spPr>
      </p:pic>
      <p:sp>
        <p:nvSpPr>
          <p:cNvPr id="50" name="Shape 47"/>
          <p:cNvSpPr/>
          <p:nvPr/>
        </p:nvSpPr>
        <p:spPr>
          <a:xfrm>
            <a:off x="530352" y="3703320"/>
            <a:ext cx="6254496" cy="3909060"/>
          </a:xfrm>
          <a:prstGeom prst="rect">
            <a:avLst/>
          </a:prstGeom>
          <a:solidFill>
            <a:srgbClr val="26312D">
              <a:alpha val="0"/>
            </a:srgbClr>
          </a:solidFill>
          <a:ln w="10160">
            <a:solidFill>
              <a:srgbClr val="6B7A73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30352" y="7799832"/>
            <a:ext cx="1234440" cy="246888"/>
          </a:xfrm>
          <a:prstGeom prst="rect">
            <a:avLst/>
          </a:prstGeom>
          <a:solidFill>
            <a:srgbClr val="2F7D57"/>
          </a:solidFill>
          <a:ln w="12700">
            <a:solidFill>
              <a:srgbClr val="2F7D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03504" y="7813548"/>
            <a:ext cx="10881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60" kern="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PREDICTIVE ML</a:t>
            </a:r>
            <a:endParaRPr lang="en-US" sz="680" dirty="0"/>
          </a:p>
        </p:txBody>
      </p:sp>
      <p:sp>
        <p:nvSpPr>
          <p:cNvPr id="53" name="Shape 50"/>
          <p:cNvSpPr/>
          <p:nvPr/>
        </p:nvSpPr>
        <p:spPr>
          <a:xfrm>
            <a:off x="1865376" y="7799832"/>
            <a:ext cx="1097280" cy="246888"/>
          </a:xfrm>
          <a:prstGeom prst="rect">
            <a:avLst/>
          </a:prstGeom>
          <a:solidFill>
            <a:srgbClr val="35423D"/>
          </a:solidFill>
          <a:ln w="12700">
            <a:solidFill>
              <a:srgbClr val="35423D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938528" y="7813548"/>
            <a:ext cx="950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60" kern="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HYBRID RAG</a:t>
            </a:r>
            <a:endParaRPr lang="en-US" sz="680" dirty="0"/>
          </a:p>
        </p:txBody>
      </p:sp>
      <p:sp>
        <p:nvSpPr>
          <p:cNvPr id="55" name="Shape 52"/>
          <p:cNvSpPr/>
          <p:nvPr/>
        </p:nvSpPr>
        <p:spPr>
          <a:xfrm>
            <a:off x="3063240" y="7799832"/>
            <a:ext cx="1051560" cy="246888"/>
          </a:xfrm>
          <a:prstGeom prst="rect">
            <a:avLst/>
          </a:prstGeom>
          <a:solidFill>
            <a:srgbClr val="35423D"/>
          </a:solidFill>
          <a:ln w="12700">
            <a:solidFill>
              <a:srgbClr val="35423D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136392" y="7813548"/>
            <a:ext cx="905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60" kern="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LOCAL LLM</a:t>
            </a:r>
            <a:endParaRPr lang="en-US" sz="680" dirty="0"/>
          </a:p>
        </p:txBody>
      </p:sp>
      <p:sp>
        <p:nvSpPr>
          <p:cNvPr id="57" name="Shape 54"/>
          <p:cNvSpPr/>
          <p:nvPr/>
        </p:nvSpPr>
        <p:spPr>
          <a:xfrm>
            <a:off x="4215384" y="7799832"/>
            <a:ext cx="1335024" cy="246888"/>
          </a:xfrm>
          <a:prstGeom prst="rect">
            <a:avLst/>
          </a:prstGeom>
          <a:solidFill>
            <a:srgbClr val="35423D"/>
          </a:solidFill>
          <a:ln w="12700">
            <a:solidFill>
              <a:srgbClr val="35423D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288536" y="7813548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60" kern="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INDUSTRIAL HMI</a:t>
            </a:r>
            <a:endParaRPr lang="en-US" sz="680" dirty="0"/>
          </a:p>
        </p:txBody>
      </p:sp>
      <p:sp>
        <p:nvSpPr>
          <p:cNvPr id="59" name="Text 56"/>
          <p:cNvSpPr/>
          <p:nvPr/>
        </p:nvSpPr>
        <p:spPr>
          <a:xfrm>
            <a:off x="530352" y="82570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MIFTAH RIZKY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3337560" y="8257032"/>
            <a:ext cx="3447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spc="45" kern="0" dirty="0">
                <a:solidFill>
                  <a:srgbClr val="B9C7C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ML &amp; FULL-STACK ENGINEERING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65392" y="8732520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3706B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3624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7672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15768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99816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67912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0056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04104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88152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6248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0296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38912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822960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207008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591056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975104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359152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43200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127248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511296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895344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279392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663440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047488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431536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815584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199632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583680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967728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7351776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7735824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8119872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8503920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8887968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0"/>
            <a:ext cx="7315200" cy="530352"/>
          </a:xfrm>
          <a:prstGeom prst="rect">
            <a:avLst/>
          </a:prstGeom>
          <a:solidFill>
            <a:srgbClr val="F7F8F5">
              <a:alpha val="97000"/>
            </a:srgbClr>
          </a:solidFill>
          <a:ln w="10160">
            <a:solidFill>
              <a:srgbClr val="2631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173736"/>
            <a:ext cx="292608" cy="265176"/>
          </a:xfrm>
          <a:prstGeom prst="rect">
            <a:avLst/>
          </a:prstGeom>
          <a:solidFill>
            <a:srgbClr val="26312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04672" y="1828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PRISM / OPERATIONAL CONTEXT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6537960" y="1828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02920" y="75895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2F7D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01 / THE PROBLEM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02920" y="1024128"/>
            <a:ext cx="6309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1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 alarm is not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7201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 action plan.</a:t>
            </a:r>
            <a:endParaRPr lang="en-US" sz="3000" dirty="0"/>
          </a:p>
        </p:txBody>
      </p:sp>
      <p:sp>
        <p:nvSpPr>
          <p:cNvPr id="49" name="Text 47"/>
          <p:cNvSpPr/>
          <p:nvPr/>
        </p:nvSpPr>
        <p:spPr>
          <a:xfrm>
            <a:off x="521208" y="2103120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telemetry can reveal that something is wrong—yet still leave the operator without context, evidence, or a safe next step.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21208" y="2834640"/>
            <a:ext cx="6272784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2376" y="3017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89958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1353312" y="2990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70" kern="0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SIGNAL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1353312" y="320954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1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Sensor values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017520" y="301752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Measurements arrive continuously, but raw numbers do not explain failure risk.</a:t>
            </a:r>
            <a:endParaRPr lang="en-US" sz="930" dirty="0"/>
          </a:p>
        </p:txBody>
      </p:sp>
      <p:sp>
        <p:nvSpPr>
          <p:cNvPr id="55" name="Shape 53"/>
          <p:cNvSpPr/>
          <p:nvPr/>
        </p:nvSpPr>
        <p:spPr>
          <a:xfrm>
            <a:off x="521208" y="4160520"/>
            <a:ext cx="6272784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2376" y="43434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89958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2100" dirty="0"/>
          </a:p>
        </p:txBody>
      </p:sp>
      <p:sp>
        <p:nvSpPr>
          <p:cNvPr id="57" name="Text 55"/>
          <p:cNvSpPr/>
          <p:nvPr/>
        </p:nvSpPr>
        <p:spPr>
          <a:xfrm>
            <a:off x="1353312" y="43159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70" kern="0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DECISION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1353312" y="453542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1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Failure context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3017520" y="434340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useful system must distinguish nominal operation from likely failure signatures.</a:t>
            </a:r>
            <a:endParaRPr lang="en-US" sz="930" dirty="0"/>
          </a:p>
        </p:txBody>
      </p:sp>
      <p:sp>
        <p:nvSpPr>
          <p:cNvPr id="60" name="Shape 58"/>
          <p:cNvSpPr/>
          <p:nvPr/>
        </p:nvSpPr>
        <p:spPr>
          <a:xfrm>
            <a:off x="521208" y="5486400"/>
            <a:ext cx="6272784" cy="1024128"/>
          </a:xfrm>
          <a:prstGeom prst="rect">
            <a:avLst/>
          </a:prstGeom>
          <a:solidFill>
            <a:srgbClr val="DCEBE2"/>
          </a:solidFill>
          <a:ln w="10160">
            <a:solidFill>
              <a:srgbClr val="A8C9B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2376" y="5669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F7D5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2100" dirty="0"/>
          </a:p>
        </p:txBody>
      </p:sp>
      <p:sp>
        <p:nvSpPr>
          <p:cNvPr id="62" name="Text 60"/>
          <p:cNvSpPr/>
          <p:nvPr/>
        </p:nvSpPr>
        <p:spPr>
          <a:xfrm>
            <a:off x="1353312" y="56418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70" kern="0" dirty="0">
                <a:solidFill>
                  <a:srgbClr val="2F7D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ACTION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1353312" y="586130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1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Verified guidance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3017520" y="566928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recommendations need source evidence, validation, and human authorization.</a:t>
            </a:r>
            <a:endParaRPr lang="en-US" sz="930" dirty="0"/>
          </a:p>
        </p:txBody>
      </p:sp>
      <p:sp>
        <p:nvSpPr>
          <p:cNvPr id="65" name="Shape 63"/>
          <p:cNvSpPr/>
          <p:nvPr/>
        </p:nvSpPr>
        <p:spPr>
          <a:xfrm>
            <a:off x="521208" y="7040880"/>
            <a:ext cx="6272784" cy="960120"/>
          </a:xfrm>
          <a:prstGeom prst="rect">
            <a:avLst/>
          </a:prstGeom>
          <a:solidFill>
            <a:srgbClr val="26312D"/>
          </a:solidFill>
          <a:ln w="10160">
            <a:solidFill>
              <a:srgbClr val="26312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9808" y="72420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70" kern="0" dirty="0">
                <a:solidFill>
                  <a:srgbClr val="B9FF3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SAFETY BOUNDARY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2240280" y="7168896"/>
            <a:ext cx="4242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support only. PRISM never commands machinery, PLCs, or safety systems.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02920" y="8668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spc="20" kern="0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Project scope and safety constraints: README.md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65392" y="8732520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3706B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3624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7672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15768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99816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67912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0056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04104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88152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6248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0296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38912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822960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207008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591056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975104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359152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43200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127248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511296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895344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279392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663440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047488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431536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815584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199632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583680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967728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7351776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7735824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8119872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8503920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8887968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0"/>
            <a:ext cx="7315200" cy="530352"/>
          </a:xfrm>
          <a:prstGeom prst="rect">
            <a:avLst/>
          </a:prstGeom>
          <a:solidFill>
            <a:srgbClr val="F7F8F5">
              <a:alpha val="97000"/>
            </a:srgbClr>
          </a:solidFill>
          <a:ln w="10160">
            <a:solidFill>
              <a:srgbClr val="2631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173736"/>
            <a:ext cx="292608" cy="265176"/>
          </a:xfrm>
          <a:prstGeom prst="rect">
            <a:avLst/>
          </a:prstGeom>
          <a:solidFill>
            <a:srgbClr val="26312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04672" y="1828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PRISM / CONDITIONAL INFERENCE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6537960" y="1828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02920" y="75895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2F7D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 / WHAT PRISM DOES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02920" y="1024128"/>
            <a:ext cx="6309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1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request.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7201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Two intentional paths.</a:t>
            </a:r>
            <a:endParaRPr lang="en-US" sz="3000" dirty="0"/>
          </a:p>
        </p:txBody>
      </p:sp>
      <p:sp>
        <p:nvSpPr>
          <p:cNvPr id="49" name="Text 47"/>
          <p:cNvSpPr/>
          <p:nvPr/>
        </p:nvSpPr>
        <p:spPr>
          <a:xfrm>
            <a:off x="521208" y="2103120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calibrated probability gate keeps nominal responses fast and reserves retrieval plus generation for critical conditions.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21208" y="2587752"/>
            <a:ext cx="1956816" cy="246888"/>
          </a:xfrm>
          <a:prstGeom prst="rect">
            <a:avLst/>
          </a:prstGeom>
          <a:solidFill>
            <a:srgbClr val="26312D"/>
          </a:solidFill>
          <a:ln w="12700">
            <a:solidFill>
              <a:srgbClr val="2631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" y="2601468"/>
            <a:ext cx="1810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60" kern="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FIVE MACHINE MEASUREMENTS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521208" y="2944368"/>
            <a:ext cx="1078992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312724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AIR TEMP</a:t>
            </a:r>
            <a:endParaRPr lang="en-US" sz="560" dirty="0"/>
          </a:p>
        </p:txBody>
      </p:sp>
      <p:sp>
        <p:nvSpPr>
          <p:cNvPr id="54" name="Shape 52"/>
          <p:cNvSpPr/>
          <p:nvPr/>
        </p:nvSpPr>
        <p:spPr>
          <a:xfrm>
            <a:off x="1783080" y="2944368"/>
            <a:ext cx="1078992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56232" y="312724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PROCESS TEMP</a:t>
            </a:r>
            <a:endParaRPr lang="en-US" sz="560" dirty="0"/>
          </a:p>
        </p:txBody>
      </p:sp>
      <p:sp>
        <p:nvSpPr>
          <p:cNvPr id="56" name="Shape 54"/>
          <p:cNvSpPr/>
          <p:nvPr/>
        </p:nvSpPr>
        <p:spPr>
          <a:xfrm>
            <a:off x="3044952" y="2944368"/>
            <a:ext cx="1078992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18104" y="312724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SPEED</a:t>
            </a:r>
            <a:endParaRPr lang="en-US" sz="560" dirty="0"/>
          </a:p>
        </p:txBody>
      </p:sp>
      <p:sp>
        <p:nvSpPr>
          <p:cNvPr id="58" name="Shape 56"/>
          <p:cNvSpPr/>
          <p:nvPr/>
        </p:nvSpPr>
        <p:spPr>
          <a:xfrm>
            <a:off x="4306824" y="2944368"/>
            <a:ext cx="1078992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79976" y="312724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TORQUE</a:t>
            </a:r>
            <a:endParaRPr lang="en-US" sz="560" dirty="0"/>
          </a:p>
        </p:txBody>
      </p:sp>
      <p:sp>
        <p:nvSpPr>
          <p:cNvPr id="60" name="Shape 58"/>
          <p:cNvSpPr/>
          <p:nvPr/>
        </p:nvSpPr>
        <p:spPr>
          <a:xfrm>
            <a:off x="5568696" y="2944368"/>
            <a:ext cx="1078992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41848" y="312724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TOOL WEAR</a:t>
            </a:r>
            <a:endParaRPr lang="en-US" sz="560" dirty="0"/>
          </a:p>
        </p:txBody>
      </p:sp>
      <p:sp>
        <p:nvSpPr>
          <p:cNvPr id="62" name="Shape 60"/>
          <p:cNvSpPr/>
          <p:nvPr/>
        </p:nvSpPr>
        <p:spPr>
          <a:xfrm>
            <a:off x="3154680" y="3813048"/>
            <a:ext cx="0" cy="0"/>
          </a:xfrm>
          <a:prstGeom prst="line">
            <a:avLst/>
          </a:prstGeom>
          <a:noFill/>
          <a:ln w="13970">
            <a:solidFill>
              <a:srgbClr val="89958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063240" y="3739896"/>
            <a:ext cx="109728" cy="146304"/>
          </a:xfrm>
          <a:prstGeom prst="chevron">
            <a:avLst/>
          </a:prstGeom>
          <a:solidFill>
            <a:srgbClr val="89958F"/>
          </a:solidFill>
          <a:ln w="12700">
            <a:solidFill>
              <a:srgbClr val="89958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139696" y="4005072"/>
            <a:ext cx="3035808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39696" y="4005072"/>
            <a:ext cx="54864" cy="841248"/>
          </a:xfrm>
          <a:prstGeom prst="rect">
            <a:avLst/>
          </a:prstGeom>
          <a:solidFill>
            <a:srgbClr val="2F7D57"/>
          </a:solidFill>
          <a:ln w="12700">
            <a:solidFill>
              <a:srgbClr val="2F7D5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304288" y="4123944"/>
            <a:ext cx="2761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1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Predictive engine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2304288" y="4425696"/>
            <a:ext cx="27614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Calibrated failure probability + multi-label failure signatures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3657600" y="4846320"/>
            <a:ext cx="0" cy="438912"/>
          </a:xfrm>
          <a:prstGeom prst="line">
            <a:avLst/>
          </a:prstGeom>
          <a:noFill/>
          <a:ln w="12700">
            <a:solidFill>
              <a:srgbClr val="89958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819656" y="5285232"/>
            <a:ext cx="3675888" cy="0"/>
          </a:xfrm>
          <a:prstGeom prst="line">
            <a:avLst/>
          </a:prstGeom>
          <a:noFill/>
          <a:ln w="12700">
            <a:solidFill>
              <a:srgbClr val="89958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819656" y="5285232"/>
            <a:ext cx="0" cy="365760"/>
          </a:xfrm>
          <a:prstGeom prst="line">
            <a:avLst/>
          </a:prstGeom>
          <a:noFill/>
          <a:ln w="12700">
            <a:solidFill>
              <a:srgbClr val="89958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95544" y="5285232"/>
            <a:ext cx="0" cy="365760"/>
          </a:xfrm>
          <a:prstGeom prst="line">
            <a:avLst/>
          </a:prstGeom>
          <a:noFill/>
          <a:ln w="12700">
            <a:solidFill>
              <a:srgbClr val="89958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30352" y="5678424"/>
            <a:ext cx="1417320" cy="246888"/>
          </a:xfrm>
          <a:prstGeom prst="rect">
            <a:avLst/>
          </a:prstGeom>
          <a:solidFill>
            <a:srgbClr val="2F7D57"/>
          </a:solidFill>
          <a:ln w="12700">
            <a:solidFill>
              <a:srgbClr val="2F7D5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3504" y="5692140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60" kern="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BELOW THRESHOLD</a:t>
            </a:r>
            <a:endParaRPr lang="en-US" sz="680" dirty="0"/>
          </a:p>
        </p:txBody>
      </p:sp>
      <p:sp>
        <p:nvSpPr>
          <p:cNvPr id="74" name="Shape 72"/>
          <p:cNvSpPr/>
          <p:nvPr/>
        </p:nvSpPr>
        <p:spPr>
          <a:xfrm>
            <a:off x="4142232" y="5678424"/>
            <a:ext cx="1810512" cy="246888"/>
          </a:xfrm>
          <a:prstGeom prst="rect">
            <a:avLst/>
          </a:prstGeom>
          <a:solidFill>
            <a:srgbClr val="B53A2F"/>
          </a:solidFill>
          <a:ln w="12700">
            <a:solidFill>
              <a:srgbClr val="B53A2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15384" y="5692140"/>
            <a:ext cx="1664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60" kern="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AT OR ABOVE THRESHOLD</a:t>
            </a:r>
            <a:endParaRPr lang="en-US" sz="680" dirty="0"/>
          </a:p>
        </p:txBody>
      </p:sp>
      <p:sp>
        <p:nvSpPr>
          <p:cNvPr id="76" name="Shape 74"/>
          <p:cNvSpPr/>
          <p:nvPr/>
        </p:nvSpPr>
        <p:spPr>
          <a:xfrm>
            <a:off x="530352" y="6099048"/>
            <a:ext cx="2770632" cy="1481328"/>
          </a:xfrm>
          <a:prstGeom prst="rect">
            <a:avLst/>
          </a:prstGeom>
          <a:solidFill>
            <a:srgbClr val="DCEBE2"/>
          </a:solidFill>
          <a:ln w="10160">
            <a:solidFill>
              <a:srgbClr val="A8C9B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49808" y="630936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7D5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HEALTHY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749808" y="6793992"/>
            <a:ext cx="22677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ML result immediately.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and generation are skipped.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014216" y="6099048"/>
            <a:ext cx="2770632" cy="1481328"/>
          </a:xfrm>
          <a:prstGeom prst="rect">
            <a:avLst/>
          </a:prstGeom>
          <a:solidFill>
            <a:srgbClr val="F4DFDC"/>
          </a:solidFill>
          <a:ln w="10160">
            <a:solidFill>
              <a:srgbClr val="D4A19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33672" y="630936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53A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CRITICAL</a:t>
            </a:r>
            <a:endParaRPr lang="en-US" sz="1800" dirty="0"/>
          </a:p>
        </p:txBody>
      </p:sp>
      <p:sp>
        <p:nvSpPr>
          <p:cNvPr id="81" name="Text 79"/>
          <p:cNvSpPr/>
          <p:nvPr/>
        </p:nvSpPr>
        <p:spPr>
          <a:xfrm>
            <a:off x="4233672" y="6793992"/>
            <a:ext cx="22677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→ retrieve evidence → generate → validate before display.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530352" y="7927848"/>
            <a:ext cx="6254496" cy="292608"/>
          </a:xfrm>
          <a:prstGeom prst="rect">
            <a:avLst/>
          </a:prstGeom>
          <a:solidFill>
            <a:srgbClr val="E1E5E1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7201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OPERATIONAL THRESHOLD  0.01326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502920" y="8668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spc="20" kern="0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Model threshold and routing: artifacts/model_metadata.json, src/prism/api/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65392" y="8732520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3706B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631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3624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7672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15768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99816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67912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0056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04104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88152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6248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0296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38912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822960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207008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591056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975104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359152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43200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127248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511296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895344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279392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663440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047488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431536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815584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199632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583680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967728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7351776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7735824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8119872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8503920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8887968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173736"/>
            <a:ext cx="292608" cy="265176"/>
          </a:xfrm>
          <a:prstGeom prst="rect">
            <a:avLst/>
          </a:prstGeom>
          <a:solidFill>
            <a:srgbClr val="0D151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FF3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04672" y="1828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B9C7C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PRISM / SYSTEM ARCHITECTURE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6537960" y="1828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B9C7C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04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502920" y="75895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B9FF3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 / ARCHITECTURE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02920" y="1024128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Local-first by design.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521208" y="1874520"/>
            <a:ext cx="6172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browser reaches a single orchestration boundary. Models, evidence, generation, and validation remain inside the local runtime.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30352" y="2743200"/>
            <a:ext cx="1901952" cy="841248"/>
          </a:xfrm>
          <a:prstGeom prst="rect">
            <a:avLst/>
          </a:prstGeom>
          <a:solidFill>
            <a:srgbClr val="2C3733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0352" y="2743200"/>
            <a:ext cx="54864" cy="841248"/>
          </a:xfrm>
          <a:prstGeom prst="rect">
            <a:avLst/>
          </a:prstGeom>
          <a:solidFill>
            <a:srgbClr val="2F7D57"/>
          </a:solidFill>
          <a:ln w="12700">
            <a:solidFill>
              <a:srgbClr val="2F7D5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" y="2862072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Industrial HMI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94944" y="3163824"/>
            <a:ext cx="1627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B9C7C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Next.js 16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2441448" y="3163824"/>
            <a:ext cx="228600" cy="0"/>
          </a:xfrm>
          <a:prstGeom prst="line">
            <a:avLst/>
          </a:prstGeom>
          <a:noFill/>
          <a:ln w="13970">
            <a:solidFill>
              <a:srgbClr val="7D8C8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78608" y="3090672"/>
            <a:ext cx="109728" cy="146304"/>
          </a:xfrm>
          <a:prstGeom prst="chevron">
            <a:avLst/>
          </a:prstGeom>
          <a:solidFill>
            <a:srgbClr val="7D8C85"/>
          </a:solidFill>
          <a:ln w="12700">
            <a:solidFill>
              <a:srgbClr val="7D8C8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06624" y="2743200"/>
            <a:ext cx="1901952" cy="841248"/>
          </a:xfrm>
          <a:prstGeom prst="rect">
            <a:avLst/>
          </a:prstGeom>
          <a:solidFill>
            <a:srgbClr val="2C3733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06624" y="2743200"/>
            <a:ext cx="54864" cy="841248"/>
          </a:xfrm>
          <a:prstGeom prst="rect">
            <a:avLst/>
          </a:prstGeom>
          <a:solidFill>
            <a:srgbClr val="2F7D57"/>
          </a:solidFill>
          <a:ln w="12700">
            <a:solidFill>
              <a:srgbClr val="2F7D5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71216" y="2862072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Server proxy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2871216" y="3163824"/>
            <a:ext cx="1627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B9C7C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Route handlers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4617720" y="3163824"/>
            <a:ext cx="228600" cy="0"/>
          </a:xfrm>
          <a:prstGeom prst="line">
            <a:avLst/>
          </a:prstGeom>
          <a:noFill/>
          <a:ln w="13970">
            <a:solidFill>
              <a:srgbClr val="7D8C8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0" y="3090672"/>
            <a:ext cx="109728" cy="146304"/>
          </a:xfrm>
          <a:prstGeom prst="chevron">
            <a:avLst/>
          </a:prstGeom>
          <a:solidFill>
            <a:srgbClr val="7D8C85"/>
          </a:solidFill>
          <a:ln w="12700">
            <a:solidFill>
              <a:srgbClr val="7D8C8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82896" y="2743200"/>
            <a:ext cx="1901952" cy="841248"/>
          </a:xfrm>
          <a:prstGeom prst="rect">
            <a:avLst/>
          </a:prstGeom>
          <a:solidFill>
            <a:srgbClr val="2C3733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82896" y="2743200"/>
            <a:ext cx="54864" cy="841248"/>
          </a:xfrm>
          <a:prstGeom prst="rect">
            <a:avLst/>
          </a:prstGeom>
          <a:solidFill>
            <a:srgbClr val="2F7D57"/>
          </a:solidFill>
          <a:ln w="12700">
            <a:solidFill>
              <a:srgbClr val="2F7D5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47488" y="2862072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Orchestration API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047488" y="3163824"/>
            <a:ext cx="1627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B9C7C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FastAPI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530352" y="3977640"/>
            <a:ext cx="1901952" cy="841248"/>
          </a:xfrm>
          <a:prstGeom prst="rect">
            <a:avLst/>
          </a:prstGeom>
          <a:solidFill>
            <a:srgbClr val="31423A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0352" y="3977640"/>
            <a:ext cx="54864" cy="841248"/>
          </a:xfrm>
          <a:prstGeom prst="rect">
            <a:avLst/>
          </a:prstGeom>
          <a:solidFill>
            <a:srgbClr val="2F7D57"/>
          </a:solidFill>
          <a:ln w="12700">
            <a:solidFill>
              <a:srgbClr val="2F7D5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4944" y="4096512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Predictive ML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94944" y="4398264"/>
            <a:ext cx="1627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B9C7C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Calibrated RF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2441448" y="4398264"/>
            <a:ext cx="228600" cy="0"/>
          </a:xfrm>
          <a:prstGeom prst="line">
            <a:avLst/>
          </a:prstGeom>
          <a:noFill/>
          <a:ln w="13970">
            <a:solidFill>
              <a:srgbClr val="7D8C8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78608" y="4325112"/>
            <a:ext cx="109728" cy="146304"/>
          </a:xfrm>
          <a:prstGeom prst="chevron">
            <a:avLst/>
          </a:prstGeom>
          <a:solidFill>
            <a:srgbClr val="7D8C85"/>
          </a:solidFill>
          <a:ln w="12700">
            <a:solidFill>
              <a:srgbClr val="7D8C8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06624" y="3977640"/>
            <a:ext cx="1901952" cy="841248"/>
          </a:xfrm>
          <a:prstGeom prst="rect">
            <a:avLst/>
          </a:prstGeom>
          <a:solidFill>
            <a:srgbClr val="31423A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06624" y="3977640"/>
            <a:ext cx="54864" cy="841248"/>
          </a:xfrm>
          <a:prstGeom prst="rect">
            <a:avLst/>
          </a:prstGeom>
          <a:solidFill>
            <a:srgbClr val="2F7D57"/>
          </a:solidFill>
          <a:ln w="12700">
            <a:solidFill>
              <a:srgbClr val="2F7D5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871216" y="4096512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Hybrid RAG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2871216" y="4398264"/>
            <a:ext cx="1627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B9C7C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E5 + FAISS + BM25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4617720" y="4398264"/>
            <a:ext cx="228600" cy="0"/>
          </a:xfrm>
          <a:prstGeom prst="line">
            <a:avLst/>
          </a:prstGeom>
          <a:noFill/>
          <a:ln w="13970">
            <a:solidFill>
              <a:srgbClr val="7D8C8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54880" y="4325112"/>
            <a:ext cx="109728" cy="146304"/>
          </a:xfrm>
          <a:prstGeom prst="chevron">
            <a:avLst/>
          </a:prstGeom>
          <a:solidFill>
            <a:srgbClr val="7D8C85"/>
          </a:solidFill>
          <a:ln w="12700">
            <a:solidFill>
              <a:srgbClr val="7D8C8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882896" y="3977640"/>
            <a:ext cx="1901952" cy="841248"/>
          </a:xfrm>
          <a:prstGeom prst="rect">
            <a:avLst/>
          </a:prstGeom>
          <a:solidFill>
            <a:srgbClr val="31423A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882896" y="3977640"/>
            <a:ext cx="54864" cy="841248"/>
          </a:xfrm>
          <a:prstGeom prst="rect">
            <a:avLst/>
          </a:prstGeom>
          <a:solidFill>
            <a:srgbClr val="A66612"/>
          </a:solidFill>
          <a:ln w="12700">
            <a:solidFill>
              <a:srgbClr val="A666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47488" y="4096512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Local LLM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5047488" y="4398264"/>
            <a:ext cx="1627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B9C7C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Qwen2.5 3B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5833872" y="3584448"/>
            <a:ext cx="0" cy="182880"/>
          </a:xfrm>
          <a:prstGeom prst="line">
            <a:avLst/>
          </a:prstGeom>
          <a:noFill/>
          <a:ln w="12700">
            <a:solidFill>
              <a:srgbClr val="7D8C8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481328" y="3767328"/>
            <a:ext cx="4352544" cy="0"/>
          </a:xfrm>
          <a:prstGeom prst="line">
            <a:avLst/>
          </a:prstGeom>
          <a:noFill/>
          <a:ln w="12700">
            <a:solidFill>
              <a:srgbClr val="7D8C8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481328" y="3767328"/>
            <a:ext cx="0" cy="210312"/>
          </a:xfrm>
          <a:prstGeom prst="line">
            <a:avLst/>
          </a:prstGeom>
          <a:noFill/>
          <a:ln w="12700">
            <a:solidFill>
              <a:srgbClr val="7D8C8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30352" y="5266944"/>
            <a:ext cx="2889504" cy="1115568"/>
          </a:xfrm>
          <a:prstGeom prst="rect">
            <a:avLst/>
          </a:prstGeom>
          <a:solidFill>
            <a:srgbClr val="1D2824"/>
          </a:solidFill>
          <a:ln w="10160">
            <a:solidFill>
              <a:srgbClr val="6B7A7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49808" y="5458968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b="1" spc="70" kern="0" dirty="0">
                <a:solidFill>
                  <a:srgbClr val="B9FF3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MODEL ARTIFACTS</a:t>
            </a:r>
            <a:endParaRPr lang="en-US" sz="660" dirty="0"/>
          </a:p>
        </p:txBody>
      </p:sp>
      <p:sp>
        <p:nvSpPr>
          <p:cNvPr id="86" name="Text 84"/>
          <p:cNvSpPr/>
          <p:nvPr/>
        </p:nvSpPr>
        <p:spPr>
          <a:xfrm>
            <a:off x="749808" y="57607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FD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bundle, metadata, thresholds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3895344" y="5266944"/>
            <a:ext cx="2889504" cy="1115568"/>
          </a:xfrm>
          <a:prstGeom prst="rect">
            <a:avLst/>
          </a:prstGeom>
          <a:solidFill>
            <a:srgbClr val="1D2824"/>
          </a:solidFill>
          <a:ln w="10160">
            <a:solidFill>
              <a:srgbClr val="6B7A7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114800" y="5458968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b="1" spc="70" kern="0" dirty="0">
                <a:solidFill>
                  <a:srgbClr val="B9FF3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VERIFIED SOURCES</a:t>
            </a:r>
            <a:endParaRPr lang="en-US" sz="660" dirty="0"/>
          </a:p>
        </p:txBody>
      </p:sp>
      <p:sp>
        <p:nvSpPr>
          <p:cNvPr id="89" name="Text 87"/>
          <p:cNvSpPr/>
          <p:nvPr/>
        </p:nvSpPr>
        <p:spPr>
          <a:xfrm>
            <a:off x="4114800" y="57607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FD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OSHA PDFs, page metadata, checksums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530352" y="6675120"/>
            <a:ext cx="6254496" cy="658368"/>
          </a:xfrm>
          <a:prstGeom prst="rect">
            <a:avLst/>
          </a:prstGeom>
          <a:solidFill>
            <a:srgbClr val="111A17"/>
          </a:solidFill>
          <a:ln w="10160">
            <a:solidFill>
              <a:srgbClr val="75847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58952" y="6876288"/>
            <a:ext cx="5806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spc="20" kern="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VALIDATION GATE  →  MITIGATION_READY  /  MANUAL_REVIEW_REQUIRED</a:t>
            </a:r>
            <a:endParaRPr lang="en-US" sz="720" dirty="0"/>
          </a:p>
        </p:txBody>
      </p:sp>
      <p:sp>
        <p:nvSpPr>
          <p:cNvPr id="92" name="Text 90"/>
          <p:cNvSpPr/>
          <p:nvPr/>
        </p:nvSpPr>
        <p:spPr>
          <a:xfrm>
            <a:off x="502920" y="8668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spc="20" kern="0" dirty="0">
                <a:solidFill>
                  <a:srgbClr val="93A39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Runtime architecture: README.md and compose.yaml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65392" y="8732520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3706B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3624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7672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15768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99816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67912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0056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04104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88152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6248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0296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38912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822960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207008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591056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975104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359152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43200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127248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511296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895344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279392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663440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047488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431536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815584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199632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583680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967728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7351776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7735824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8119872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8503920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8887968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0"/>
            <a:ext cx="7315200" cy="530352"/>
          </a:xfrm>
          <a:prstGeom prst="rect">
            <a:avLst/>
          </a:prstGeom>
          <a:solidFill>
            <a:srgbClr val="F7F8F5">
              <a:alpha val="97000"/>
            </a:srgbClr>
          </a:solidFill>
          <a:ln w="10160">
            <a:solidFill>
              <a:srgbClr val="2631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173736"/>
            <a:ext cx="292608" cy="265176"/>
          </a:xfrm>
          <a:prstGeom prst="rect">
            <a:avLst/>
          </a:prstGeom>
          <a:solidFill>
            <a:srgbClr val="26312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04672" y="1828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PRISM / VALIDATED RESULTS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6537960" y="1828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05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02920" y="75895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2F7D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04 / EVIDENCE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02920" y="1024128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1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Measured, not imagined.</a:t>
            </a:r>
            <a:endParaRPr lang="en-US" sz="3000" dirty="0"/>
          </a:p>
        </p:txBody>
      </p:sp>
      <p:sp>
        <p:nvSpPr>
          <p:cNvPr id="49" name="Text 47"/>
          <p:cNvSpPr/>
          <p:nvPr/>
        </p:nvSpPr>
        <p:spPr>
          <a:xfrm>
            <a:off x="521208" y="1874520"/>
            <a:ext cx="6172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portfolio claims below are taken directly from committed model, retrieval, and acceptance artifacts.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21208" y="2670048"/>
            <a:ext cx="2990088" cy="1335024"/>
          </a:xfrm>
          <a:prstGeom prst="rect">
            <a:avLst/>
          </a:prstGeom>
          <a:solidFill>
            <a:srgbClr val="FFFFFF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21208" y="2670048"/>
            <a:ext cx="64008" cy="1335024"/>
          </a:xfrm>
          <a:prstGeom prst="rect">
            <a:avLst/>
          </a:prstGeom>
          <a:solidFill>
            <a:srgbClr val="2F7D57"/>
          </a:solidFill>
          <a:ln w="12700">
            <a:solidFill>
              <a:srgbClr val="2F7D5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2376" y="28072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1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0.9604</a:t>
            </a:r>
            <a:endParaRPr lang="en-US" sz="2500" dirty="0"/>
          </a:p>
        </p:txBody>
      </p:sp>
      <p:sp>
        <p:nvSpPr>
          <p:cNvPr id="53" name="Text 51"/>
          <p:cNvSpPr/>
          <p:nvPr/>
        </p:nvSpPr>
        <p:spPr>
          <a:xfrm>
            <a:off x="731520" y="3355848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b="1" spc="50" kern="0" dirty="0">
                <a:solidFill>
                  <a:srgbClr val="2F7D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HOLDOUT ROC-AUC</a:t>
            </a:r>
            <a:endParaRPr lang="en-US" sz="660" dirty="0"/>
          </a:p>
        </p:txBody>
      </p:sp>
      <p:sp>
        <p:nvSpPr>
          <p:cNvPr id="54" name="Text 52"/>
          <p:cNvSpPr/>
          <p:nvPr/>
        </p:nvSpPr>
        <p:spPr>
          <a:xfrm>
            <a:off x="731520" y="3602736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2,000-row holdout set</a:t>
            </a:r>
            <a:endParaRPr lang="en-US" sz="740" dirty="0"/>
          </a:p>
        </p:txBody>
      </p:sp>
      <p:sp>
        <p:nvSpPr>
          <p:cNvPr id="55" name="Shape 53"/>
          <p:cNvSpPr/>
          <p:nvPr/>
        </p:nvSpPr>
        <p:spPr>
          <a:xfrm>
            <a:off x="3794760" y="2670048"/>
            <a:ext cx="2990088" cy="1335024"/>
          </a:xfrm>
          <a:prstGeom prst="rect">
            <a:avLst/>
          </a:prstGeom>
          <a:solidFill>
            <a:srgbClr val="FFFFFF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94760" y="2670048"/>
            <a:ext cx="64008" cy="1335024"/>
          </a:xfrm>
          <a:prstGeom prst="rect">
            <a:avLst/>
          </a:prstGeom>
          <a:solidFill>
            <a:srgbClr val="2F7D57"/>
          </a:solidFill>
          <a:ln w="12700">
            <a:solidFill>
              <a:srgbClr val="2F7D5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95928" y="28072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1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91.18%</a:t>
            </a:r>
            <a:endParaRPr lang="en-US" sz="2500" dirty="0"/>
          </a:p>
        </p:txBody>
      </p:sp>
      <p:sp>
        <p:nvSpPr>
          <p:cNvPr id="58" name="Text 56"/>
          <p:cNvSpPr/>
          <p:nvPr/>
        </p:nvSpPr>
        <p:spPr>
          <a:xfrm>
            <a:off x="4005072" y="3355848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b="1" spc="50" kern="0" dirty="0">
                <a:solidFill>
                  <a:srgbClr val="2F7D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FAILURE RECALL</a:t>
            </a:r>
            <a:endParaRPr lang="en-US" sz="660" dirty="0"/>
          </a:p>
        </p:txBody>
      </p:sp>
      <p:sp>
        <p:nvSpPr>
          <p:cNvPr id="59" name="Text 57"/>
          <p:cNvSpPr/>
          <p:nvPr/>
        </p:nvSpPr>
        <p:spPr>
          <a:xfrm>
            <a:off x="4005072" y="3602736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of 68 failures detected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521208" y="4261104"/>
            <a:ext cx="2990088" cy="1335024"/>
          </a:xfrm>
          <a:prstGeom prst="rect">
            <a:avLst/>
          </a:prstGeom>
          <a:solidFill>
            <a:srgbClr val="FFFFFF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21208" y="4261104"/>
            <a:ext cx="64008" cy="1335024"/>
          </a:xfrm>
          <a:prstGeom prst="rect">
            <a:avLst/>
          </a:prstGeom>
          <a:solidFill>
            <a:srgbClr val="2F7D57"/>
          </a:solidFill>
          <a:ln w="12700">
            <a:solidFill>
              <a:srgbClr val="2F7D5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2376" y="439826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1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100%</a:t>
            </a:r>
            <a:endParaRPr lang="en-US" sz="2500" dirty="0"/>
          </a:p>
        </p:txBody>
      </p:sp>
      <p:sp>
        <p:nvSpPr>
          <p:cNvPr id="63" name="Text 61"/>
          <p:cNvSpPr/>
          <p:nvPr/>
        </p:nvSpPr>
        <p:spPr>
          <a:xfrm>
            <a:off x="731520" y="4946904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b="1" spc="50" kern="0" dirty="0">
                <a:solidFill>
                  <a:srgbClr val="2F7D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RAG RECALL@5</a:t>
            </a:r>
            <a:endParaRPr lang="en-US" sz="660" dirty="0"/>
          </a:p>
        </p:txBody>
      </p:sp>
      <p:sp>
        <p:nvSpPr>
          <p:cNvPr id="64" name="Text 62"/>
          <p:cNvSpPr/>
          <p:nvPr/>
        </p:nvSpPr>
        <p:spPr>
          <a:xfrm>
            <a:off x="731520" y="5193792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8/8 evaluation queries hit</a:t>
            </a:r>
            <a:endParaRPr lang="en-US" sz="740" dirty="0"/>
          </a:p>
        </p:txBody>
      </p:sp>
      <p:sp>
        <p:nvSpPr>
          <p:cNvPr id="65" name="Shape 63"/>
          <p:cNvSpPr/>
          <p:nvPr/>
        </p:nvSpPr>
        <p:spPr>
          <a:xfrm>
            <a:off x="3794760" y="4261104"/>
            <a:ext cx="2990088" cy="1335024"/>
          </a:xfrm>
          <a:prstGeom prst="rect">
            <a:avLst/>
          </a:prstGeom>
          <a:solidFill>
            <a:srgbClr val="FFFFFF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794760" y="4261104"/>
            <a:ext cx="64008" cy="1335024"/>
          </a:xfrm>
          <a:prstGeom prst="rect">
            <a:avLst/>
          </a:prstGeom>
          <a:solidFill>
            <a:srgbClr val="2F7D57"/>
          </a:solidFill>
          <a:ln w="12700">
            <a:solidFill>
              <a:srgbClr val="2F7D5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995928" y="439826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1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100%</a:t>
            </a:r>
            <a:endParaRPr lang="en-US" sz="2500" dirty="0"/>
          </a:p>
        </p:txBody>
      </p:sp>
      <p:sp>
        <p:nvSpPr>
          <p:cNvPr id="68" name="Text 66"/>
          <p:cNvSpPr/>
          <p:nvPr/>
        </p:nvSpPr>
        <p:spPr>
          <a:xfrm>
            <a:off x="4005072" y="4946904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b="1" spc="50" kern="0" dirty="0">
                <a:solidFill>
                  <a:srgbClr val="2F7D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SCHEMA VALIDATION</a:t>
            </a:r>
            <a:endParaRPr lang="en-US" sz="660" dirty="0"/>
          </a:p>
        </p:txBody>
      </p:sp>
      <p:sp>
        <p:nvSpPr>
          <p:cNvPr id="69" name="Text 67"/>
          <p:cNvSpPr/>
          <p:nvPr/>
        </p:nvSpPr>
        <p:spPr>
          <a:xfrm>
            <a:off x="4005072" y="5193792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acceptance run</a:t>
            </a:r>
            <a:endParaRPr lang="en-US" sz="740" dirty="0"/>
          </a:p>
        </p:txBody>
      </p:sp>
      <p:sp>
        <p:nvSpPr>
          <p:cNvPr id="70" name="Shape 68"/>
          <p:cNvSpPr/>
          <p:nvPr/>
        </p:nvSpPr>
        <p:spPr>
          <a:xfrm>
            <a:off x="521208" y="5852160"/>
            <a:ext cx="6263640" cy="1335024"/>
          </a:xfrm>
          <a:prstGeom prst="rect">
            <a:avLst/>
          </a:prstGeom>
          <a:solidFill>
            <a:srgbClr val="FFFFFF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21208" y="5852160"/>
            <a:ext cx="64008" cy="1335024"/>
          </a:xfrm>
          <a:prstGeom prst="rect">
            <a:avLst/>
          </a:prstGeom>
          <a:solidFill>
            <a:srgbClr val="A66612"/>
          </a:solidFill>
          <a:ln w="12700">
            <a:solidFill>
              <a:srgbClr val="A6661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2376" y="5989320"/>
            <a:ext cx="5925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1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715.238 ms</a:t>
            </a:r>
            <a:endParaRPr lang="en-US" sz="2500" dirty="0"/>
          </a:p>
        </p:txBody>
      </p:sp>
      <p:sp>
        <p:nvSpPr>
          <p:cNvPr id="73" name="Text 71"/>
          <p:cNvSpPr/>
          <p:nvPr/>
        </p:nvSpPr>
        <p:spPr>
          <a:xfrm>
            <a:off x="731520" y="653796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b="1" spc="50" kern="0" dirty="0">
                <a:solidFill>
                  <a:srgbClr val="A6661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ANOMALY ORCHESTRATION P95</a:t>
            </a:r>
            <a:endParaRPr lang="en-US" sz="660" dirty="0"/>
          </a:p>
        </p:txBody>
      </p:sp>
      <p:sp>
        <p:nvSpPr>
          <p:cNvPr id="74" name="Text 72"/>
          <p:cNvSpPr/>
          <p:nvPr/>
        </p:nvSpPr>
        <p:spPr>
          <a:xfrm>
            <a:off x="731520" y="6784848"/>
            <a:ext cx="5897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deterministic critical-path runs; target &lt; 3 seconds</a:t>
            </a:r>
            <a:endParaRPr lang="en-US" sz="740" dirty="0"/>
          </a:p>
        </p:txBody>
      </p:sp>
      <p:sp>
        <p:nvSpPr>
          <p:cNvPr id="75" name="Shape 73"/>
          <p:cNvSpPr/>
          <p:nvPr/>
        </p:nvSpPr>
        <p:spPr>
          <a:xfrm>
            <a:off x="521208" y="7498080"/>
            <a:ext cx="6263640" cy="758952"/>
          </a:xfrm>
          <a:prstGeom prst="rect">
            <a:avLst/>
          </a:prstGeom>
          <a:solidFill>
            <a:srgbClr val="F3E8D2"/>
          </a:solidFill>
          <a:ln w="10160">
            <a:solidFill>
              <a:srgbClr val="D6BB8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3232" y="769010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b="1" spc="50" kern="0" dirty="0">
                <a:solidFill>
                  <a:srgbClr val="A6661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BENCHMARK SCOPE</a:t>
            </a:r>
            <a:endParaRPr lang="en-US" sz="630" dirty="0"/>
          </a:p>
        </p:txBody>
      </p:sp>
      <p:sp>
        <p:nvSpPr>
          <p:cNvPr id="77" name="Text 75"/>
          <p:cNvSpPr/>
          <p:nvPr/>
        </p:nvSpPr>
        <p:spPr>
          <a:xfrm>
            <a:off x="1920240" y="7598664"/>
            <a:ext cx="4599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7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measures orchestration with a deterministic valid generator—not live Qwen/Ollama inference.</a:t>
            </a:r>
            <a:endParaRPr lang="en-US" sz="860" dirty="0"/>
          </a:p>
        </p:txBody>
      </p:sp>
      <p:sp>
        <p:nvSpPr>
          <p:cNvPr id="78" name="Text 76"/>
          <p:cNvSpPr/>
          <p:nvPr/>
        </p:nvSpPr>
        <p:spPr>
          <a:xfrm>
            <a:off x="502920" y="8668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spc="20" kern="0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Sources: artifacts/acceptance_report.json and artifacts/model_metadata.json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65392" y="8732520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3706B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3624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7672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15768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99816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67912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0056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04104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88152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6248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0296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38912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822960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207008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591056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975104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359152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43200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127248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511296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895344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279392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663440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047488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431536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815584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199632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583680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967728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7351776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7735824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8119872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8503920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8887968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0"/>
            <a:ext cx="7315200" cy="530352"/>
          </a:xfrm>
          <a:prstGeom prst="rect">
            <a:avLst/>
          </a:prstGeom>
          <a:solidFill>
            <a:srgbClr val="F7F8F5">
              <a:alpha val="97000"/>
            </a:srgbClr>
          </a:solidFill>
          <a:ln w="10160">
            <a:solidFill>
              <a:srgbClr val="2631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173736"/>
            <a:ext cx="292608" cy="265176"/>
          </a:xfrm>
          <a:prstGeom prst="rect">
            <a:avLst/>
          </a:prstGeom>
          <a:solidFill>
            <a:srgbClr val="26312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04672" y="1828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PRISM / GROUNDED SAFETY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6537960" y="1828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06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02920" y="75895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2F7D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05 / GUARDRAILS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02920" y="1024128"/>
            <a:ext cx="6309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1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Generation is the last step—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7201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not the source of truth.</a:t>
            </a:r>
            <a:endParaRPr lang="en-US" sz="3000" dirty="0"/>
          </a:p>
        </p:txBody>
      </p:sp>
      <p:sp>
        <p:nvSpPr>
          <p:cNvPr id="49" name="Text 47"/>
          <p:cNvSpPr/>
          <p:nvPr/>
        </p:nvSpPr>
        <p:spPr>
          <a:xfrm>
            <a:off x="521208" y="2103120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guidance must remain traceable to retrieved safety evidence and survive strict machine validation.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21208" y="2724912"/>
            <a:ext cx="626364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" y="290779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F7D5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298448" y="288036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70" kern="0" dirty="0">
                <a:solidFill>
                  <a:srgbClr val="2F7D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RETRIEVE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2432304" y="285292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E5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7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IndexFlatIP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21208" y="3803904"/>
            <a:ext cx="626364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3232" y="398678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F7D5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298448" y="395935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70" kern="0" dirty="0">
                <a:solidFill>
                  <a:srgbClr val="2F7D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FUSE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2432304" y="3931920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+ dense results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7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Reciprocal Rank Fusion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21208" y="4882896"/>
            <a:ext cx="626364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3232" y="506577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A6661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298448" y="503834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70" kern="0" dirty="0">
                <a:solidFill>
                  <a:srgbClr val="A6661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GENERATE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2432304" y="5010912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 3B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7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through Ollama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21208" y="5961888"/>
            <a:ext cx="6263640" cy="786384"/>
          </a:xfrm>
          <a:prstGeom prst="rect">
            <a:avLst/>
          </a:prstGeom>
          <a:solidFill>
            <a:srgbClr val="F4DFDC"/>
          </a:solidFill>
          <a:ln w="10160">
            <a:solidFill>
              <a:srgbClr val="D4A19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3232" y="614476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53A2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298448" y="61173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spc="70" kern="0" dirty="0">
                <a:solidFill>
                  <a:srgbClr val="B53A2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VALIDATE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2432304" y="6089904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schema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7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grounding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21208" y="7205472"/>
            <a:ext cx="2212848" cy="868680"/>
          </a:xfrm>
          <a:prstGeom prst="rect">
            <a:avLst/>
          </a:prstGeom>
          <a:solidFill>
            <a:srgbClr val="DCEBE2"/>
          </a:solidFill>
          <a:ln w="10160">
            <a:solidFill>
              <a:srgbClr val="A8C9B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1520" y="733348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F7D5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334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1444752" y="7333488"/>
            <a:ext cx="1051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b="1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PAGE-PRESERVING</a:t>
            </a:r>
            <a:endParaRPr lang="en-US" sz="630" dirty="0"/>
          </a:p>
          <a:p>
            <a:pPr indent="0" marL="0">
              <a:buNone/>
            </a:pPr>
            <a:r>
              <a:rPr lang="en-US" sz="630" b="1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CHUNKS</a:t>
            </a:r>
            <a:endParaRPr lang="en-US" sz="630" dirty="0"/>
          </a:p>
        </p:txBody>
      </p:sp>
      <p:sp>
        <p:nvSpPr>
          <p:cNvPr id="69" name="Shape 67"/>
          <p:cNvSpPr/>
          <p:nvPr/>
        </p:nvSpPr>
        <p:spPr>
          <a:xfrm>
            <a:off x="2944368" y="7205472"/>
            <a:ext cx="1517904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172968" y="733348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F7D5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3657600" y="7333488"/>
            <a:ext cx="640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VERIFIED OSHA</a:t>
            </a:r>
            <a:endParaRPr lang="en-US" sz="570" dirty="0"/>
          </a:p>
          <a:p>
            <a:pPr indent="0" marL="0">
              <a:buNone/>
            </a:pPr>
            <a:r>
              <a:rPr lang="en-US" sz="570" b="1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PUBLICATIONS</a:t>
            </a:r>
            <a:endParaRPr lang="en-US" sz="570" dirty="0"/>
          </a:p>
        </p:txBody>
      </p:sp>
      <p:sp>
        <p:nvSpPr>
          <p:cNvPr id="72" name="Shape 70"/>
          <p:cNvSpPr/>
          <p:nvPr/>
        </p:nvSpPr>
        <p:spPr>
          <a:xfrm>
            <a:off x="4663440" y="7205472"/>
            <a:ext cx="2121408" cy="868680"/>
          </a:xfrm>
          <a:prstGeom prst="rect">
            <a:avLst/>
          </a:prstGeom>
          <a:solidFill>
            <a:srgbClr val="26312D"/>
          </a:solidFill>
          <a:ln w="10160">
            <a:solidFill>
              <a:srgbClr val="26312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73752" y="7342632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B9FF3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LOCKOUT STATE</a:t>
            </a:r>
            <a:endParaRPr lang="en-US" sz="620" dirty="0"/>
          </a:p>
        </p:txBody>
      </p:sp>
      <p:sp>
        <p:nvSpPr>
          <p:cNvPr id="74" name="Text 72"/>
          <p:cNvSpPr/>
          <p:nvPr/>
        </p:nvSpPr>
        <p:spPr>
          <a:xfrm>
            <a:off x="4873752" y="76078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MANUAL REVIEW</a:t>
            </a:r>
            <a:endParaRPr lang="en-US" sz="1120" dirty="0"/>
          </a:p>
        </p:txBody>
      </p:sp>
      <p:sp>
        <p:nvSpPr>
          <p:cNvPr id="75" name="Text 73"/>
          <p:cNvSpPr/>
          <p:nvPr/>
        </p:nvSpPr>
        <p:spPr>
          <a:xfrm>
            <a:off x="502920" y="8668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spc="20" kern="0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Sources: knowledge index metadata and RAG evaluation report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65392" y="8732520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3706B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31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3624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7672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15768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99816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67912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0056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04104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88152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6248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0296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38912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822960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207008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591056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975104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359152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43200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127248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511296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895344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279392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663440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047488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431536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815584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199632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583680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967728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7351776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7735824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8119872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8503920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8887968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173736"/>
            <a:ext cx="292608" cy="265176"/>
          </a:xfrm>
          <a:prstGeom prst="rect">
            <a:avLst/>
          </a:prstGeom>
          <a:solidFill>
            <a:srgbClr val="0D151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FF3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04672" y="1828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B9C7C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PRISM / OPERATOR EXPERIENCE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6537960" y="1828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B9C7C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07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502920" y="75895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B9FF3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06 / INDUSTRIAL HMI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02920" y="1024128"/>
            <a:ext cx="6309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Designed for the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first operational glance.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521208" y="2103120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interface exposes readiness, sensor bounds, risk, routing, and latency without inventing fleet or historical data.</a:t>
            </a:r>
            <a:endParaRPr lang="en-US" sz="1050" dirty="0"/>
          </a:p>
        </p:txBody>
      </p:sp>
      <p:pic>
        <p:nvPicPr>
          <p:cNvPr id="49" name="Image 0" descr="E:\Learning\Project\PRISM\docs\assets\prism-dashboard-no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697480"/>
            <a:ext cx="6254496" cy="3909060"/>
          </a:xfrm>
          <a:prstGeom prst="rect">
            <a:avLst/>
          </a:prstGeom>
        </p:spPr>
      </p:pic>
      <p:sp>
        <p:nvSpPr>
          <p:cNvPr id="50" name="Shape 47"/>
          <p:cNvSpPr/>
          <p:nvPr/>
        </p:nvSpPr>
        <p:spPr>
          <a:xfrm>
            <a:off x="530352" y="2697480"/>
            <a:ext cx="6254496" cy="3909060"/>
          </a:xfrm>
          <a:prstGeom prst="rect">
            <a:avLst/>
          </a:prstGeom>
          <a:solidFill>
            <a:srgbClr val="26312D">
              <a:alpha val="0"/>
            </a:srgbClr>
          </a:solidFill>
          <a:ln w="11430">
            <a:solidFill>
              <a:srgbClr val="6B7A73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30352" y="6903720"/>
            <a:ext cx="1938528" cy="868680"/>
          </a:xfrm>
          <a:prstGeom prst="rect">
            <a:avLst/>
          </a:prstGeom>
          <a:solidFill>
            <a:srgbClr val="2C3733"/>
          </a:solidFill>
          <a:ln w="10160">
            <a:solidFill>
              <a:srgbClr val="64736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76656" y="7040880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B9FF3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API READY</a:t>
            </a:r>
            <a:endParaRPr lang="en-US" sz="630" dirty="0"/>
          </a:p>
        </p:txBody>
      </p:sp>
      <p:sp>
        <p:nvSpPr>
          <p:cNvPr id="53" name="Text 50"/>
          <p:cNvSpPr/>
          <p:nvPr/>
        </p:nvSpPr>
        <p:spPr>
          <a:xfrm>
            <a:off x="676656" y="7296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CBD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and model readiness</a:t>
            </a:r>
            <a:endParaRPr lang="en-US" sz="740" dirty="0"/>
          </a:p>
        </p:txBody>
      </p:sp>
      <p:sp>
        <p:nvSpPr>
          <p:cNvPr id="54" name="Shape 51"/>
          <p:cNvSpPr/>
          <p:nvPr/>
        </p:nvSpPr>
        <p:spPr>
          <a:xfrm>
            <a:off x="2642616" y="6903720"/>
            <a:ext cx="1938528" cy="868680"/>
          </a:xfrm>
          <a:prstGeom prst="rect">
            <a:avLst/>
          </a:prstGeom>
          <a:solidFill>
            <a:srgbClr val="2C3733"/>
          </a:solidFill>
          <a:ln w="10160">
            <a:solidFill>
              <a:srgbClr val="64736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2788920" y="7040880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B9FF3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SYSTEM NOMINAL</a:t>
            </a:r>
            <a:endParaRPr lang="en-US" sz="630" dirty="0"/>
          </a:p>
        </p:txBody>
      </p:sp>
      <p:sp>
        <p:nvSpPr>
          <p:cNvPr id="56" name="Text 53"/>
          <p:cNvSpPr/>
          <p:nvPr/>
        </p:nvSpPr>
        <p:spPr>
          <a:xfrm>
            <a:off x="2788920" y="7296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CBD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below learned threshold</a:t>
            </a:r>
            <a:endParaRPr lang="en-US" sz="740" dirty="0"/>
          </a:p>
        </p:txBody>
      </p:sp>
      <p:sp>
        <p:nvSpPr>
          <p:cNvPr id="57" name="Shape 54"/>
          <p:cNvSpPr/>
          <p:nvPr/>
        </p:nvSpPr>
        <p:spPr>
          <a:xfrm>
            <a:off x="4754880" y="6903720"/>
            <a:ext cx="1938528" cy="868680"/>
          </a:xfrm>
          <a:prstGeom prst="rect">
            <a:avLst/>
          </a:prstGeom>
          <a:solidFill>
            <a:srgbClr val="2C3733"/>
          </a:solidFill>
          <a:ln w="10160">
            <a:solidFill>
              <a:srgbClr val="64736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901184" y="7040880"/>
            <a:ext cx="1645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B9FF3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STAGE TELEMETRY</a:t>
            </a:r>
            <a:endParaRPr lang="en-US" sz="630" dirty="0"/>
          </a:p>
        </p:txBody>
      </p:sp>
      <p:sp>
        <p:nvSpPr>
          <p:cNvPr id="59" name="Text 56"/>
          <p:cNvSpPr/>
          <p:nvPr/>
        </p:nvSpPr>
        <p:spPr>
          <a:xfrm>
            <a:off x="4901184" y="7296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CBD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ML, retrieval, generation, total</a:t>
            </a:r>
            <a:endParaRPr lang="en-US" sz="740" dirty="0"/>
          </a:p>
        </p:txBody>
      </p:sp>
      <p:sp>
        <p:nvSpPr>
          <p:cNvPr id="60" name="Text 57"/>
          <p:cNvSpPr/>
          <p:nvPr/>
        </p:nvSpPr>
        <p:spPr>
          <a:xfrm>
            <a:off x="530352" y="8083296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93A39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REAL LOCAL DASHBOARD  /  1440 × 900 CAPTURE</a:t>
            </a:r>
            <a:endParaRPr lang="en-US" sz="650" dirty="0"/>
          </a:p>
        </p:txBody>
      </p:sp>
      <p:sp>
        <p:nvSpPr>
          <p:cNvPr id="61" name="Text 58"/>
          <p:cNvSpPr/>
          <p:nvPr/>
        </p:nvSpPr>
        <p:spPr>
          <a:xfrm>
            <a:off x="502920" y="8668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spc="20" kern="0" dirty="0">
                <a:solidFill>
                  <a:srgbClr val="93A39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Source image: docs/assets/prism-dashboard-nominal.png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65392" y="8732520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3706B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3624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7672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15768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99816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67912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0056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04104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88152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6248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0296" y="0"/>
            <a:ext cx="0" cy="914400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38912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822960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207008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591056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975104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359152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43200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127248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511296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895344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279392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663440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047488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431536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815584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199632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583680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967728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7351776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7735824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8119872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8503920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8887968"/>
            <a:ext cx="7315200" cy="0"/>
          </a:xfrm>
          <a:prstGeom prst="line">
            <a:avLst/>
          </a:prstGeom>
          <a:noFill/>
          <a:ln w="3175">
            <a:solidFill>
              <a:srgbClr val="DDE1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0"/>
            <a:ext cx="7315200" cy="530352"/>
          </a:xfrm>
          <a:prstGeom prst="rect">
            <a:avLst/>
          </a:prstGeom>
          <a:solidFill>
            <a:srgbClr val="F7F8F5">
              <a:alpha val="97000"/>
            </a:srgbClr>
          </a:solidFill>
          <a:ln w="10160">
            <a:solidFill>
              <a:srgbClr val="2631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173736"/>
            <a:ext cx="292608" cy="265176"/>
          </a:xfrm>
          <a:prstGeom prst="rect">
            <a:avLst/>
          </a:prstGeom>
          <a:solidFill>
            <a:srgbClr val="26312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04672" y="1828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PRISM / ENGINEERING SYSTEM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6537960" y="1828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08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02920" y="75895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2F7D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07 / DELIVERY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02920" y="1024128"/>
            <a:ext cx="6309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1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Built as a system,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7201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not a notebook demo.</a:t>
            </a:r>
            <a:endParaRPr lang="en-US" sz="3000" dirty="0"/>
          </a:p>
        </p:txBody>
      </p:sp>
      <p:sp>
        <p:nvSpPr>
          <p:cNvPr id="49" name="Text 47"/>
          <p:cNvSpPr/>
          <p:nvPr/>
        </p:nvSpPr>
        <p:spPr>
          <a:xfrm>
            <a:off x="521208" y="2103120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Training, inference, knowledge retrieval, validation, deployment, and UI are versioned as one reproducible project.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21208" y="2743200"/>
            <a:ext cx="2990088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5800" y="2907792"/>
            <a:ext cx="1005840" cy="246888"/>
          </a:xfrm>
          <a:prstGeom prst="rect">
            <a:avLst/>
          </a:prstGeom>
          <a:solidFill>
            <a:srgbClr val="26312D"/>
          </a:solidFill>
          <a:ln w="12700">
            <a:solidFill>
              <a:srgbClr val="26312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8952" y="2921508"/>
            <a:ext cx="859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60" kern="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MODEL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704088" y="3291840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splits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comparison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 probabilities</a:t>
            </a:r>
            <a:endParaRPr lang="en-US" sz="940" dirty="0"/>
          </a:p>
        </p:txBody>
      </p:sp>
      <p:sp>
        <p:nvSpPr>
          <p:cNvPr id="54" name="Shape 52"/>
          <p:cNvSpPr/>
          <p:nvPr/>
        </p:nvSpPr>
        <p:spPr>
          <a:xfrm>
            <a:off x="3794760" y="2743200"/>
            <a:ext cx="2990088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959352" y="2907792"/>
            <a:ext cx="1060704" cy="246888"/>
          </a:xfrm>
          <a:prstGeom prst="rect">
            <a:avLst/>
          </a:prstGeom>
          <a:solidFill>
            <a:srgbClr val="2F7D57"/>
          </a:solidFill>
          <a:ln w="12700">
            <a:solidFill>
              <a:srgbClr val="2F7D5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32504" y="292150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60" kern="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QUALITY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3977640" y="3291840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+ integration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+ fault injection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production build</a:t>
            </a:r>
            <a:endParaRPr lang="en-US" sz="940" dirty="0"/>
          </a:p>
        </p:txBody>
      </p:sp>
      <p:sp>
        <p:nvSpPr>
          <p:cNvPr id="58" name="Shape 56"/>
          <p:cNvSpPr/>
          <p:nvPr/>
        </p:nvSpPr>
        <p:spPr>
          <a:xfrm>
            <a:off x="521208" y="4315968"/>
            <a:ext cx="2990088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5800" y="4480560"/>
            <a:ext cx="1143000" cy="246888"/>
          </a:xfrm>
          <a:prstGeom prst="rect">
            <a:avLst/>
          </a:prstGeom>
          <a:solidFill>
            <a:srgbClr val="26312D"/>
          </a:solidFill>
          <a:ln w="12700">
            <a:solidFill>
              <a:srgbClr val="26312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8952" y="4494276"/>
            <a:ext cx="996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60" kern="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OPERATIONS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704088" y="4864608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model caches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runtime profile</a:t>
            </a:r>
            <a:endParaRPr lang="en-US" sz="940" dirty="0"/>
          </a:p>
        </p:txBody>
      </p:sp>
      <p:sp>
        <p:nvSpPr>
          <p:cNvPr id="62" name="Shape 60"/>
          <p:cNvSpPr/>
          <p:nvPr/>
        </p:nvSpPr>
        <p:spPr>
          <a:xfrm>
            <a:off x="3794760" y="4315968"/>
            <a:ext cx="2990088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BCC4B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959352" y="4480560"/>
            <a:ext cx="1088136" cy="246888"/>
          </a:xfrm>
          <a:prstGeom prst="rect">
            <a:avLst/>
          </a:prstGeom>
          <a:solidFill>
            <a:srgbClr val="26312D"/>
          </a:solidFill>
          <a:ln w="12700">
            <a:solidFill>
              <a:srgbClr val="26312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032504" y="4494276"/>
            <a:ext cx="941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spc="60" kern="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DELIVERY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3977640" y="4864608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Non-root containers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637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runbook</a:t>
            </a:r>
            <a:endParaRPr lang="en-US" sz="940" dirty="0"/>
          </a:p>
        </p:txBody>
      </p:sp>
      <p:sp>
        <p:nvSpPr>
          <p:cNvPr id="66" name="Shape 64"/>
          <p:cNvSpPr/>
          <p:nvPr/>
        </p:nvSpPr>
        <p:spPr>
          <a:xfrm>
            <a:off x="521208" y="6208776"/>
            <a:ext cx="6263640" cy="1362456"/>
          </a:xfrm>
          <a:prstGeom prst="rect">
            <a:avLst/>
          </a:prstGeom>
          <a:solidFill>
            <a:srgbClr val="26312D"/>
          </a:solidFill>
          <a:ln w="10160">
            <a:solidFill>
              <a:srgbClr val="26312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9808" y="6437376"/>
            <a:ext cx="1106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spc="70" kern="0" dirty="0">
                <a:solidFill>
                  <a:srgbClr val="B9FF3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TECH STACK</a:t>
            </a:r>
            <a:endParaRPr lang="en-US" sz="670" dirty="0"/>
          </a:p>
        </p:txBody>
      </p:sp>
      <p:sp>
        <p:nvSpPr>
          <p:cNvPr id="68" name="Text 66"/>
          <p:cNvSpPr/>
          <p:nvPr/>
        </p:nvSpPr>
        <p:spPr>
          <a:xfrm>
            <a:off x="749808" y="6729984"/>
            <a:ext cx="5623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Python  ·  scikit-learn  ·  XGBoost  ·  FAISS  ·  FastAPI  ·  Ollama</a:t>
            </a:r>
            <a:endParaRPr lang="en-US" sz="1140" dirty="0"/>
          </a:p>
        </p:txBody>
      </p:sp>
      <p:sp>
        <p:nvSpPr>
          <p:cNvPr id="69" name="Text 67"/>
          <p:cNvSpPr/>
          <p:nvPr/>
        </p:nvSpPr>
        <p:spPr>
          <a:xfrm>
            <a:off x="749808" y="7077456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CBD5D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Next.js 16  ·  React 19  ·  TypeScript 5  ·  Docker Compose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521208" y="7808976"/>
            <a:ext cx="6263640" cy="420624"/>
          </a:xfrm>
          <a:prstGeom prst="rect">
            <a:avLst/>
          </a:prstGeom>
          <a:solidFill>
            <a:srgbClr val="DCEBE2"/>
          </a:solidFill>
          <a:ln w="10160">
            <a:solidFill>
              <a:srgbClr val="A8C9B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3232" y="7918704"/>
            <a:ext cx="5870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F7D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CI GATE  →  PYTHON LINT + TESTS + ACCEPTANCE  |  WEB LINT + BUILD</a:t>
            </a:r>
            <a:endParaRPr lang="en-US" sz="660" dirty="0"/>
          </a:p>
        </p:txBody>
      </p:sp>
      <p:sp>
        <p:nvSpPr>
          <p:cNvPr id="72" name="Text 70"/>
          <p:cNvSpPr/>
          <p:nvPr/>
        </p:nvSpPr>
        <p:spPr>
          <a:xfrm>
            <a:off x="502920" y="8668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spc="20" kern="0" dirty="0">
                <a:solidFill>
                  <a:srgbClr val="63706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Sources: pyproject.toml, web/package.json, compose.yaml, .github/workflows/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65392" y="8732520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3706B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31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3624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7672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15768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99816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67912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0056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04104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88152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6248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0296" y="0"/>
            <a:ext cx="0" cy="914400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38912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822960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207008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591056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975104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359152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743200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127248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3511296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895344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279392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663440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047488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431536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815584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199632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583680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967728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7351776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7735824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8119872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8503920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8887968"/>
            <a:ext cx="7315200" cy="0"/>
          </a:xfrm>
          <a:prstGeom prst="line">
            <a:avLst/>
          </a:prstGeom>
          <a:noFill/>
          <a:ln w="3175">
            <a:solidFill>
              <a:srgbClr val="3C49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173736"/>
            <a:ext cx="292608" cy="265176"/>
          </a:xfrm>
          <a:prstGeom prst="rect">
            <a:avLst/>
          </a:prstGeom>
          <a:solidFill>
            <a:srgbClr val="0D151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FF3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04672" y="1828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B9C7C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PRISM / PROJECT ACCESS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6537960" y="1828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B9C7C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09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530352" y="914400"/>
            <a:ext cx="6254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spc="10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P.R.I.S.M.</a:t>
            </a:r>
            <a:endParaRPr lang="en-US" sz="3500" dirty="0"/>
          </a:p>
        </p:txBody>
      </p:sp>
      <p:sp>
        <p:nvSpPr>
          <p:cNvPr id="47" name="Text 45"/>
          <p:cNvSpPr/>
          <p:nvPr/>
        </p:nvSpPr>
        <p:spPr>
          <a:xfrm>
            <a:off x="530352" y="1737360"/>
            <a:ext cx="5961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DDE6E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Prediction with context.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DDE6E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Evidence before guidance.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DDE6E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Human authorization by design.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548640" y="36576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60" kern="0" dirty="0">
                <a:solidFill>
                  <a:srgbClr val="B9FF3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PREDICT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700784" y="3657600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BD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 machine-failure risk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" y="422452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60" kern="0" dirty="0">
                <a:solidFill>
                  <a:srgbClr val="B9FF3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TRACE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700784" y="4224528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BD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page-level safety evidence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48640" y="47914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60" kern="0" dirty="0">
                <a:solidFill>
                  <a:srgbClr val="B9FF3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VALIDATE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700784" y="4791456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BD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and citation guardrails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8640" y="535838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60" kern="0" dirty="0">
                <a:solidFill>
                  <a:srgbClr val="B9FF3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OPERATE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700784" y="5358384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BD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industrial HMI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30352" y="6236208"/>
            <a:ext cx="6254496" cy="1591056"/>
          </a:xfrm>
          <a:prstGeom prst="rect">
            <a:avLst/>
          </a:prstGeom>
          <a:solidFill>
            <a:srgbClr val="F7F8F5"/>
          </a:solidFill>
          <a:ln w="10160">
            <a:solidFill>
              <a:srgbClr val="819087"/>
            </a:solidFill>
            <a:prstDash val="solid"/>
          </a:ln>
        </p:spPr>
      </p:sp>
      <p:pic>
        <p:nvPicPr>
          <p:cNvPr id="5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464808"/>
            <a:ext cx="1133856" cy="1133856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2148840" y="646480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70" kern="0" dirty="0">
                <a:solidFill>
                  <a:srgbClr val="2F7D5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EXPLORE THE PROJECT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2148840" y="678484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1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Architecture, benchmarks, source code.</a:t>
            </a:r>
            <a:endParaRPr lang="en-US" sz="1300" dirty="0"/>
          </a:p>
        </p:txBody>
      </p:sp>
      <p:sp>
        <p:nvSpPr>
          <p:cNvPr id="60" name="Text 57">
            <a:hlinkClick r:id="rId2" tooltip=""/>
          </p:cNvPr>
          <p:cNvSpPr/>
          <p:nvPr/>
        </p:nvSpPr>
        <p:spPr>
          <a:xfrm>
            <a:off x="2148840" y="725119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u="sng" dirty="0">
                <a:solidFill>
                  <a:srgbClr val="2F7D57"/>
                </a:solidFill>
                <a:uFill>
                  <a:solidFill>
                    <a:srgbClr val="2F7D57"/>
                  </a:solidFill>
                </a:uFill>
                <a:latin typeface="Cascadia Mono" pitchFamily="34" charset="0"/>
                <a:ea typeface="Cascadia Mono" pitchFamily="34" charset="-122"/>
                <a:cs typeface="Cascadia Mon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github.com/mifthrizky/P.R.I.S.M.</a:t>
            </a:r>
            <a:endParaRPr lang="en-US" sz="750" dirty="0"/>
          </a:p>
        </p:txBody>
      </p:sp>
      <p:sp>
        <p:nvSpPr>
          <p:cNvPr id="61" name="Text 58"/>
          <p:cNvSpPr/>
          <p:nvPr/>
        </p:nvSpPr>
        <p:spPr>
          <a:xfrm>
            <a:off x="530352" y="81655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MIFTAH RIZKY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3246120" y="8165592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10" b="1" spc="40" kern="0" dirty="0">
                <a:solidFill>
                  <a:srgbClr val="B9C7C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ML &amp; FULL-STACK ENGINEERING</a:t>
            </a:r>
            <a:endParaRPr lang="en-US" sz="710" dirty="0"/>
          </a:p>
        </p:txBody>
      </p:sp>
      <p:sp>
        <p:nvSpPr>
          <p:cNvPr id="63" name="Text 60"/>
          <p:cNvSpPr/>
          <p:nvPr/>
        </p:nvSpPr>
        <p:spPr>
          <a:xfrm>
            <a:off x="502920" y="8668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spc="20" kern="0" dirty="0">
                <a:solidFill>
                  <a:srgbClr val="93A39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Decision support only — qualified humans authorize every intervention.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65392" y="8732520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3706B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hnschrif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Miftah Rizky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P.R.I.S.M. — LinkedIn Portfolio</dc:title>
  <dc:subject>PRISM predictive maintenance and industrial safety portfolio</dc:subject>
  <dc:creator>Miftah Rizky</dc:creator>
  <cp:lastModifiedBy>Miftah Rizky</cp:lastModifiedBy>
  <cp:revision>1</cp:revision>
  <dcterms:created xsi:type="dcterms:W3CDTF">2026-10-24T12:29:40Z</dcterms:created>
  <dcterms:modified xsi:type="dcterms:W3CDTF">2026-10-24T12:29:40Z</dcterms:modified>
</cp:coreProperties>
</file>